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bdf83cd6ae4297" /><Relationship Type="http://schemas.openxmlformats.org/officeDocument/2006/relationships/extended-properties" Target="/docProps/app.xml" Id="R4b20c2ae78bd4c2a" /><Relationship Type="http://schemas.openxmlformats.org/officeDocument/2006/relationships/officeDocument" Target="/ppt/presentation.xml" Id="R6ad45f8ec0e941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3b664bb0bc4196"/>
  </p:sldMasterIdLst>
  <p:notesMasterIdLst>
    <p:notesMasterId xmlns:r="http://schemas.openxmlformats.org/officeDocument/2006/relationships" r:id="Rc47572c3da6d4749"/>
  </p:notesMasterIdLst>
  <p:sldIdLst>
    <p:sldId xmlns:r="http://schemas.openxmlformats.org/officeDocument/2006/relationships" id="256" r:id="Rf3d5ee84654649f3"/>
    <p:sldId xmlns:r="http://schemas.openxmlformats.org/officeDocument/2006/relationships" id="257" r:id="R3bdb0b298fc14841"/>
    <p:sldId xmlns:r="http://schemas.openxmlformats.org/officeDocument/2006/relationships" id="258" r:id="Rc4bc83f6fb4646b5"/>
    <p:sldId xmlns:r="http://schemas.openxmlformats.org/officeDocument/2006/relationships" id="259" r:id="R45f718338f694499"/>
    <p:sldId xmlns:r="http://schemas.openxmlformats.org/officeDocument/2006/relationships" id="260" r:id="Rb44245fecebd436c"/>
    <p:sldId xmlns:r="http://schemas.openxmlformats.org/officeDocument/2006/relationships" id="261" r:id="Rbd6f406b163e41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56b7ba88ef4e03" /><Relationship Type="http://schemas.openxmlformats.org/officeDocument/2006/relationships/slideMaster" Target="/ppt/slideMasters/slideMaster1.xml" Id="R123b664bb0bc4196" /><Relationship Type="http://schemas.openxmlformats.org/officeDocument/2006/relationships/notesMaster" Target="/ppt/notesMasters/notesMaster1.xml" Id="Rc47572c3da6d4749" /><Relationship Type="http://schemas.openxmlformats.org/officeDocument/2006/relationships/presProps" Target="/ppt/presProps.xml" Id="R5a20f60df23d4dec" /><Relationship Type="http://schemas.openxmlformats.org/officeDocument/2006/relationships/tableStyles" Target="/ppt/tableStyles.xml" Id="Rb802cffc4d5b494c" /><Relationship Type="http://schemas.openxmlformats.org/officeDocument/2006/relationships/slide" Target="/ppt/slides/slide1.xml" Id="Rf3d5ee84654649f3" /><Relationship Type="http://schemas.openxmlformats.org/officeDocument/2006/relationships/slide" Target="/ppt/slides/slide2.xml" Id="R3bdb0b298fc14841" /><Relationship Type="http://schemas.openxmlformats.org/officeDocument/2006/relationships/slide" Target="/ppt/slides/slide3.xml" Id="Rc4bc83f6fb4646b5" /><Relationship Type="http://schemas.openxmlformats.org/officeDocument/2006/relationships/slide" Target="/ppt/slides/slide4.xml" Id="R45f718338f694499" /><Relationship Type="http://schemas.openxmlformats.org/officeDocument/2006/relationships/slide" Target="/ppt/slides/slide5.xml" Id="Rb44245fecebd436c" /><Relationship Type="http://schemas.openxmlformats.org/officeDocument/2006/relationships/slide" Target="/ppt/slides/slide6.xml" Id="Rbd6f406b163e41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50e3b33bb04e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e6b0859cc54659" /><Relationship Type="http://schemas.openxmlformats.org/officeDocument/2006/relationships/notesMaster" Target="/ppt/notesMasters/notesMaster1.xml" Id="R54ce2febba7049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8305e1521d4f19" /><Relationship Type="http://schemas.openxmlformats.org/officeDocument/2006/relationships/notesMaster" Target="/ppt/notesMasters/notesMaster1.xml" Id="Rbaf7daa5566449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89ae7e89a24fe4" /><Relationship Type="http://schemas.openxmlformats.org/officeDocument/2006/relationships/notesMaster" Target="/ppt/notesMasters/notesMaster1.xml" Id="Rf6cfb5c9c65949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edf2ce43b14b4e" /><Relationship Type="http://schemas.openxmlformats.org/officeDocument/2006/relationships/notesMaster" Target="/ppt/notesMasters/notesMaster1.xml" Id="R50f429c9fdef44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677e93904f4b9e" /><Relationship Type="http://schemas.openxmlformats.org/officeDocument/2006/relationships/notesMaster" Target="/ppt/notesMasters/notesMaster1.xml" Id="R009c9ea3f8e04c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83d287365a4635" /><Relationship Type="http://schemas.openxmlformats.org/officeDocument/2006/relationships/notesMaster" Target="/ppt/notesMasters/notesMaster1.xml" Id="Rebc7bf316a8549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OffHire is a project owned by Shivam Gupta for the CALL-E hackathon. The deck makes no claim of live supplier execution, customers, revenue or measured savings. Product source: https://github.com/shi1720/call-e.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IPAF Rental Standard RP-3-EN V3.1 (2023-12-08), sections 9.11–9.13, printed pages 50–54. https://www.ipaf.org/sites/default/files/2023-12/IPAF%20Rental%20Standard%20(Including%20Guidance%20for%20Rental%20Companies)%20RP-3-EN--V3.1-20231208.pdf. This guidance describes recording off-hire details and a unique number, communicating written confirmation, and collection as a distinct process. It is not a universal rule that a phone call ends charges. Customer segment and product approach are hypotheses from desk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statements, asset IDs and business names are fictional. TH-118 is a sample 6,000 lb telehandler at Riverside. The native PowerPoint table is editable. A completed CALL-E task alone does not establish billing confirmation. A reported pickup window is distinct from actual collection and a supplier-reported billing cutoff.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image: work/demo-assets/desk-desktop.png, supplied by the product implementation task. Screenshot depicts the actual OffHire app with a synthetic Riverside scenario. No call, customer adoption, supplier transaction or financial saving is established by this screenshot. The screenshot is an embedded raster image; surrounding slide text remains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inspected in call-e/lib/server/provider.ts, store.ts, service.ts and app/api/[...path]/route.ts. Provider imports CalleClient from @call-e/calle, pins https://api.heycall-e.com, creates with idempotencyKey and reads a saved call. Durable job records retain requestJson and idempotencyKey before dispatch. Webhook route checks an event, resolves a known call and performs authenticated reconciliation instead of trusting callback business data. This slide describes code/design; it does not claim a completed live test or a test count. CALL-E references: https://docs.heycall-e.com/calls and https://docs.heycall-e.com/webhooks. CALL-E API currently does not expose a call cancellation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economics on this slide are assumptions for a proposed pilot, not measured results or verified willingness to pay. Calculation: 40 events/month × 8 minutes/event × 0.75 = 240 minutes/month = 4 hours/month. Proposed fee: $99/company/month plus actual provider usage. The public CALL-E pricing materials changed during research; no fixed tariff or fabricated margin is used. Product source: https://github.com/shi1720/call-e.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0b3aceb5441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bf424098594b9b" /><Relationship Type="http://schemas.openxmlformats.org/officeDocument/2006/relationships/slideLayout" Target="/ppt/slideLayouts/slideLayout1.xml" Id="R842b47b85a364c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2b47b85a364c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f3aa3b6f14982" /><Relationship Type="http://schemas.openxmlformats.org/officeDocument/2006/relationships/notesSlide" Target="/ppt/notesSlides/notesSlide1.xml" Id="R625efeac77eb41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3987139e14f65" /><Relationship Type="http://schemas.openxmlformats.org/officeDocument/2006/relationships/notesSlide" Target="/ppt/notesSlides/notesSlide2.xml" Id="Rc787949d6fe144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0a69528154df1" /><Relationship Type="http://schemas.openxmlformats.org/officeDocument/2006/relationships/notesSlide" Target="/ppt/notesSlides/notesSlide3.xml" Id="R068f4b7fd8fb4b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599dcdaa54a59" /><Relationship Type="http://schemas.openxmlformats.org/officeDocument/2006/relationships/image" Target="/ppt/media/image.jpeg" Id="R2a8c3d6504204665" /><Relationship Type="http://schemas.openxmlformats.org/officeDocument/2006/relationships/notesSlide" Target="/ppt/notesSlides/notesSlide4.xml" Id="Re6f527d90c4e41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3e02581c647e2" /><Relationship Type="http://schemas.openxmlformats.org/officeDocument/2006/relationships/notesSlide" Target="/ppt/notesSlides/notesSlide5.xml" Id="R7a54e1dc20224e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5021c426747cd" /><Relationship Type="http://schemas.openxmlformats.org/officeDocument/2006/relationships/notesSlide" Target="/ppt/notesSlides/notesSlide6.xml" Id="R82fc8746e2c34a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7CA1E-6858-46E2-9D1F-D1E73B6A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OffHire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8FCBF-0F48-4ED7-9F7C-16971E94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67000"/>
            <a:ext cx="10096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job is finished.</a:t>
            </a:r>
          </a:p>
          <a:p xmlns:a="http://schemas.openxmlformats.org/drawingml/2006/main">
            <a:pPr>
              <a:defRPr sz="39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Is the rental?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3D5F7-164D-47A7-98AB-B33C4E8F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9E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9E7C"/>
                </a:solidFill>
                <a:latin typeface="Helvetica Neue"/>
                <a:ea typeface="Helvetica Neue"/>
                <a:cs typeface="Helvetica Neue"/>
              </a:rPr>
              <a:t>Rental closeout through CALL-E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BACF5-2FCC-4607-8472-E93C002A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Shivam Gupta</a:t>
            </a:r>
          </a:p>
        </p:txBody>
      </p:sp>
    </p:spTree>
    <p:extLst>
      <p:ext uri="{BB962C8B-B14F-4D97-AF65-F5344CB8AC3E}">
        <p14:creationId xmlns:p14="http://schemas.microsoft.com/office/powerpoint/2010/main" val="10460791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82C0C-AF41-4867-BF45-861B0B74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733"/>
                </a:solidFill>
                <a:latin typeface="Helvetica Neue"/>
                <a:ea typeface="Helvetica Neue"/>
                <a:cs typeface="Helvetica Neue"/>
              </a:rPr>
              <a:t>Equipment rental closeout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5B812-20C4-475D-96CC-991E0875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rPr>
              <a:t>A site finishing with a machine leaves an office task behind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302C6-2AB9-4E3F-B84D-6FDB41DD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048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D57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ED5727"/>
                </a:solidFill>
                <a:latin typeface="Helvetica Neue"/>
                <a:ea typeface="Helvetica Neue"/>
                <a:cs typeface="Helvetica Neue"/>
              </a:rPr>
              <a:t>The contractor needs</a:t>
            </a:r>
          </a:p>
          <a:p xmlns:a="http://schemas.openxmlformats.org/drawingml/2006/main">
            <a:pPr>
              <a:defRPr sz="3000" b="1">
                <a:solidFill>
                  <a:srgbClr val="ED57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ED5727"/>
                </a:solidFill>
                <a:latin typeface="Helvetica Neue"/>
                <a:ea typeface="Helvetica Neue"/>
                <a:cs typeface="Helvetica Neue"/>
              </a:rPr>
              <a:t>a supplier 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EB0A0-EFA6-43CD-ADDA-2A4AAFFE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143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733"/>
                </a:solidFill>
                <a:latin typeface="Helvetica Neue"/>
                <a:ea typeface="Helvetica Neue"/>
                <a:cs typeface="Helvetica Neue"/>
              </a:rPr>
              <a:t>Which asset?</a:t>
            </a:r>
          </a:p>
          <a:p xmlns:a="http://schemas.openxmlformats.org/drawingml/2006/main">
            <a:pPr>
              <a:defRPr sz="2175" b="0">
                <a:solidFill>
                  <a:srgbClr val="14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733"/>
                </a:solidFill>
                <a:latin typeface="Helvetica Neue"/>
                <a:ea typeface="Helvetica Neue"/>
                <a:cs typeface="Helvetica Neue"/>
              </a:rPr>
              <a:t>When does the supplier say billing ends?</a:t>
            </a:r>
          </a:p>
          <a:p xmlns:a="http://schemas.openxmlformats.org/drawingml/2006/main">
            <a:pPr>
              <a:defRPr sz="2175" b="0">
                <a:solidFill>
                  <a:srgbClr val="14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733"/>
                </a:solidFill>
                <a:latin typeface="Helvetica Neue"/>
                <a:ea typeface="Helvetica Neue"/>
                <a:cs typeface="Helvetica Neue"/>
              </a:rPr>
              <a:t>When will collection happen?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2F0DF-FD80-4B09-A5CE-B9A610E9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42733"/>
                </a:solidFill>
                <a:latin typeface="Helvetica Neue"/>
                <a:ea typeface="Helvetica Neue"/>
                <a:cs typeface="Helvetica Neue"/>
              </a:rPr>
              <a:t>Industry guidance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04BBC-1E42-4BAF-B0FF-48B23406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48387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733"/>
                </a:solidFill>
                <a:latin typeface="Helvetica Neue"/>
                <a:ea typeface="Helvetica Neue"/>
                <a:cs typeface="Helvetica Neue"/>
              </a:rPr>
              <a:t>IPAF recommends a unique off-hire reference communicated in writing. Collection remains a separate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A05D6-49D5-4736-8561-26435BA2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24425"/>
            <a:ext cx="48387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rPr>
              <a:t>OffHire serves calls and exceptions across suppliers. Existing portal confirmations can stay in the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CA43F-307E-40BF-9D84-F812E464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rPr>
              <a:t>Source: IPAF Rental Standard, sections 9.11–9.13. Supplier terms still govern.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4868B-0BDE-47BA-9132-A1E35CCA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514797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055C4-00CE-4DEF-9AC4-20E82984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733"/>
                </a:solidFill>
                <a:latin typeface="Helvetica Neue"/>
                <a:ea typeface="Helvetica Neue"/>
                <a:cs typeface="Helvetica Neue"/>
              </a:rPr>
              <a:t>Billing cutoff and pickup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993FB-FC52-415E-9A95-147B8540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rPr>
              <a:t>One supplier conversation can establish different facts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152650"/>
          <a:ext xmlns:a="http://schemas.openxmlformats.org/drawingml/2006/main" cx="10820400" cy="3314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5238750"/>
                <a:gridCol w="3105150"/>
              </a:tblGrid>
              <a:tr h="5143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Field</a:t>
                      </a:r>
                    </a:p>
                  </a:txBody>
                  <a:tcPr marL="91440" marR="91440" marT="45720" marB="45720">
                    <a:solidFill>
                      <a:srgbClr val="14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Fictional rental desk statement</a:t>
                      </a:r>
                    </a:p>
                  </a:txBody>
                  <a:tcPr marL="91440" marR="91440" marT="45720" marB="45720">
                    <a:solidFill>
                      <a:srgbClr val="14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OffHire record</a:t>
                      </a:r>
                    </a:p>
                  </a:txBody>
                  <a:tcPr marL="91440" marR="91440" marT="45720" marB="45720">
                    <a:solidFill>
                      <a:srgbClr val="142733"/>
                    </a:solidFill>
                  </a:tcPr>
                </a:tc>
              </a:tr>
              <a:tr h="933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7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Pickup window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7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“Tomorrow, nine to eleven.”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7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Scheduled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7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Billing cutoff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7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“The dispatcher still needs to check.”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7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Unconfirmed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7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Actual collection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7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collection recorded yet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7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Awaiting pickup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896E5-6949-4546-BE0B-0B0BED4C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57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D5727"/>
                </a:solidFill>
                <a:latin typeface="Helvetica Neue"/>
                <a:ea typeface="Helvetica Neue"/>
                <a:cs typeface="Helvetica Neue"/>
              </a:rPr>
              <a:t>The TH-118 closeout stays open for billing clarification.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BC114-D0FF-4A27-BAFC-F6DD4970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rPr>
              <a:t>Illustrative Northstar Rentals scenario. No real rental agreement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1CCDE-DECA-422E-BEB3-9E04F17F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876500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EA435-E8CC-481B-8547-D6984684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42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42733"/>
                </a:solidFill>
                <a:latin typeface="Helvetica Neue"/>
                <a:ea typeface="Helvetica Neue"/>
                <a:cs typeface="Helvetica Neue"/>
              </a:rPr>
              <a:t>The OffHire</a:t>
            </a:r>
          </a:p>
          <a:p xmlns:a="http://schemas.openxmlformats.org/drawingml/2006/main">
            <a:pPr>
              <a:defRPr sz="3225" b="1">
                <a:solidFill>
                  <a:srgbClr val="14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42733"/>
                </a:solidFill>
                <a:latin typeface="Helvetica Neue"/>
                <a:ea typeface="Helvetica Neue"/>
                <a:cs typeface="Helvetica Neue"/>
              </a:rPr>
              <a:t>closeout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B716C-27F4-4075-BED7-099C5376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143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733"/>
                </a:solidFill>
                <a:latin typeface="Helvetica Neue"/>
                <a:ea typeface="Helvetica Neue"/>
                <a:cs typeface="Helvetica Neue"/>
              </a:rPr>
              <a:t>SL-204 has a supplier cutoff.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4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2733"/>
                </a:solidFill>
                <a:latin typeface="Helvetica Neue"/>
                <a:ea typeface="Helvetica Neue"/>
                <a:cs typeface="Helvetica Neue"/>
              </a:rPr>
              <a:t>TH-118 still needs a billing answer.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64AE7-7BEE-4967-9AC3-2BBF7133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rPr>
              <a:t>Actual application</a:t>
            </a:r>
          </a:p>
          <a:p xmlns:a="http://schemas.openxmlformats.org/drawingml/2006/main">
            <a:pPr>
              <a:defRPr sz="1725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rPr>
              <a:t>Synthetic Riverside data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c3d6504204665"/>
          <a:srcRect xmlns:a="http://schemas.openxmlformats.org/drawingml/2006/main" l="0" t="0" r="50000" b="5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24350" y="323850"/>
            <a:ext cx="7315200" cy="6096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E1377-08D4-43B5-855D-F38018C4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73272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EA71C-E7FF-41ED-8F62-04282252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733"/>
                </a:solidFill>
                <a:latin typeface="Helvetica Neue"/>
                <a:ea typeface="Helvetica Neue"/>
                <a:cs typeface="Helvetica Neue"/>
              </a:rPr>
              <a:t>Reliability around the call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2FFCA-88CB-4045-8383-011E3282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rPr>
              <a:t>CALL-E gathers the answers. OffHire preserves the request and reconciles the result.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2028825"/>
          <a:ext xmlns:a="http://schemas.openxmlformats.org/drawingml/2006/main" cx="10820400" cy="3600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8343900"/>
              </a:tblGrid>
              <a:tr h="438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Moment</a:t>
                      </a:r>
                    </a:p>
                  </a:txBody>
                  <a:tcPr marL="91440" marR="91440" marT="45720" marB="45720">
                    <a:solidFill>
                      <a:srgbClr val="14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Implementation</a:t>
                      </a:r>
                    </a:p>
                  </a:txBody>
                  <a:tcPr marL="91440" marR="91440" marT="45720" marB="45720">
                    <a:solidFill>
                      <a:srgbClr val="142733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7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Call creation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7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server invokes the actual CALL-E SDK. Credentials stay off the browser.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7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Dispatch recovery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7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Persist the request and idempotency key before sending. Recover the same intent.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7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Webhook receipt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7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Treat unsigned callbacks as a signal. Fetch the known call with server credentials.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7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Business result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7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Keep unresolved billing separate from a completed call and scheduled pickup.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E9755-B181-4D87-9939-8EA3BEC5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rPr>
              <a:t>Accepted calls continue if local polling stops. Live verification remains separate.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933F0-07A1-48DF-B23A-B6F972A6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863380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247EB-7DB8-4795-9AC9-FC03CA5D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733"/>
                </a:solidFill>
                <a:latin typeface="Helvetica Neue"/>
                <a:ea typeface="Helvetica Neue"/>
                <a:cs typeface="Helvetica Neue"/>
              </a:rPr>
              <a:t>A measurable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BDBDF-7E01-4258-8DD1-06BABAC9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rPr>
              <a:t>Contractors with frequent returns across several rental suppliers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6759D-CD53-4C83-9516-A56FF081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4095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ED57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6300" b="1">
                <a:solidFill>
                  <a:srgbClr val="ED5727"/>
                </a:solidFill>
                <a:latin typeface="Helvetica Neue"/>
                <a:ea typeface="Helvetica Neue"/>
                <a:cs typeface="Helvetica Neue"/>
              </a:rPr>
              <a:t>$99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AAEA7-AACC-4956-9669-3C810CA5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0425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733"/>
                </a:solidFill>
                <a:latin typeface="Helvetica Neue"/>
                <a:ea typeface="Helvetica Neue"/>
                <a:cs typeface="Helvetica Neue"/>
              </a:rPr>
              <a:t>per company per month</a:t>
            </a:r>
          </a:p>
          <a:p xmlns:a="http://schemas.openxmlformats.org/drawingml/2006/main">
            <a:pPr>
              <a:defRPr sz="2100" b="0">
                <a:solidFill>
                  <a:srgbClr val="14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733"/>
                </a:solidFill>
                <a:latin typeface="Helvetica Neue"/>
                <a:ea typeface="Helvetica Neue"/>
                <a:cs typeface="Helvetica Neue"/>
              </a:rPr>
              <a:t>plus actual CALL-E usage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6A4F7-509E-41D8-B096-B2FE66A7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857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4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142733"/>
                </a:solidFill>
                <a:latin typeface="Helvetica Neue"/>
                <a:ea typeface="Helvetica Neue"/>
                <a:cs typeface="Helvetica Neue"/>
              </a:rPr>
              <a:t>4 hours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4571E-9491-4149-860F-D40160DE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337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733"/>
                </a:solidFill>
                <a:latin typeface="Helvetica Neue"/>
                <a:ea typeface="Helvetica Neue"/>
                <a:cs typeface="Helvetica Neue"/>
              </a:rPr>
              <a:t>modeled admin time removed each month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0A917-D267-472C-BF92-3FF14299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2910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rPr>
              <a:t>40 events × 8 minutes × 75% removed</a:t>
            </a:r>
          </a:p>
          <a:p xmlns:a="http://schemas.openxmlformats.org/drawingml/2006/main">
            <a:pPr>
              <a:defRPr sz="2025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rPr>
              <a:t>= 240 minutes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2FB8C-1B13-4DD9-9495-504F3D84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47434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733"/>
                </a:solidFill>
                <a:latin typeface="Helvetica Neue"/>
                <a:ea typeface="Helvetica Neue"/>
                <a:cs typeface="Helvetica Neue"/>
              </a:rPr>
              <a:t>Pilot measures staff time, complete records and cost per closeout.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76768-7714-4992-883B-61EC6012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334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733"/>
                </a:solidFill>
                <a:latin typeface="Helvetica Neue"/>
                <a:ea typeface="Helvetica Neue"/>
                <a:cs typeface="Helvetica Neue"/>
              </a:rPr>
              <a:t>Open-source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460A1-2895-4734-B5CF-BC31AB8D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7340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D57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D5727"/>
                </a:solidFill>
                <a:latin typeface="Helvetica Neue"/>
                <a:ea typeface="Helvetica Neue"/>
                <a:cs typeface="Helvetica Neue"/>
              </a:rPr>
              <a:t>github.com/shi1720/call-e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41D2B-3A12-4E03-A05A-3143238E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rPr>
              <a:t>Pricing and time benefit are hypotheses. No measured savings or paid demand claimed.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619E4-FCF5-49B6-B677-5DBFCE6A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4657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520976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2026-09-14T12:22:35.1670000Z</dcterms:created>
  <dcterms:modified xsi:type="dcterms:W3CDTF">2026-09-14T12:22:35.1670000Z</dcterms:modified>
</coreProperties>
</file>